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1/3/2026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16549" y="1406768"/>
            <a:ext cx="10432195" cy="2262781"/>
          </a:xfrm>
        </p:spPr>
        <p:txBody>
          <a:bodyPr/>
          <a:lstStyle/>
          <a:p>
            <a:r>
              <a:rPr lang="en-US" b="1" dirty="0"/>
              <a:t>Comparison of KNN and SVM on Synthetic Dataset</a:t>
            </a:r>
            <a:endParaRPr lang="en-IN" b="1" dirty="0"/>
          </a:p>
        </p:txBody>
      </p:sp>
      <p:sp>
        <p:nvSpPr>
          <p:cNvPr id="3" name="Subtitle 2"/>
          <p:cNvSpPr>
            <a:spLocks noGrp="1"/>
          </p:cNvSpPr>
          <p:nvPr>
            <p:ph type="subTitle" idx="1"/>
          </p:nvPr>
        </p:nvSpPr>
        <p:spPr>
          <a:xfrm>
            <a:off x="2461847" y="4065202"/>
            <a:ext cx="9385666" cy="1641005"/>
          </a:xfrm>
        </p:spPr>
        <p:txBody>
          <a:bodyPr>
            <a:normAutofit/>
          </a:bodyPr>
          <a:lstStyle/>
          <a:p>
            <a:r>
              <a:rPr lang="en-IN" sz="2400" b="1" dirty="0">
                <a:solidFill>
                  <a:srgbClr val="FF0000"/>
                </a:solidFill>
              </a:rPr>
              <a:t>Classification Algorithms – From Scratch </a:t>
            </a:r>
            <a:r>
              <a:rPr lang="en-IN" sz="2400" b="1" dirty="0" smtClean="0">
                <a:solidFill>
                  <a:srgbClr val="FF0000"/>
                </a:solidFill>
              </a:rPr>
              <a:t>Implementation</a:t>
            </a:r>
            <a:endParaRPr lang="en-IN" sz="2400" b="1" dirty="0">
              <a:solidFill>
                <a:srgbClr val="FF0000"/>
              </a:solidFill>
            </a:endParaRPr>
          </a:p>
          <a:p>
            <a:endParaRPr lang="en-IN" sz="2400" b="1" dirty="0" smtClean="0">
              <a:solidFill>
                <a:srgbClr val="FF0000"/>
              </a:solidFill>
            </a:endParaRPr>
          </a:p>
          <a:p>
            <a:r>
              <a:rPr lang="en-IN" sz="2400" b="1" dirty="0" smtClean="0">
                <a:solidFill>
                  <a:srgbClr val="FF0000"/>
                </a:solidFill>
              </a:rPr>
              <a:t>                                                                           </a:t>
            </a:r>
            <a:r>
              <a:rPr lang="en-IN" sz="1600" b="1" dirty="0" smtClean="0">
                <a:solidFill>
                  <a:schemeClr val="tx1"/>
                </a:solidFill>
              </a:rPr>
              <a:t>Name: Siddhi – G37 AI &amp; ML</a:t>
            </a:r>
            <a:endParaRPr lang="en-IN" sz="1600" b="1" dirty="0">
              <a:solidFill>
                <a:schemeClr val="tx1"/>
              </a:solidFill>
            </a:endParaRPr>
          </a:p>
        </p:txBody>
      </p:sp>
    </p:spTree>
    <p:extLst>
      <p:ext uri="{BB962C8B-B14F-4D97-AF65-F5344CB8AC3E}">
        <p14:creationId xmlns:p14="http://schemas.microsoft.com/office/powerpoint/2010/main" val="3849442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5241" y="404302"/>
            <a:ext cx="8911687" cy="1280890"/>
          </a:xfrm>
        </p:spPr>
        <p:txBody>
          <a:bodyPr>
            <a:normAutofit/>
          </a:bodyPr>
          <a:lstStyle/>
          <a:p>
            <a:r>
              <a:rPr lang="en-IN" sz="4800" dirty="0">
                <a:latin typeface="Times New Roman" panose="02020603050405020304" pitchFamily="18" charset="0"/>
                <a:cs typeface="Times New Roman" panose="02020603050405020304" pitchFamily="18" charset="0"/>
              </a:rPr>
              <a:t>Introduction</a:t>
            </a:r>
          </a:p>
        </p:txBody>
      </p:sp>
      <p:sp>
        <p:nvSpPr>
          <p:cNvPr id="3" name="Subtitle 2"/>
          <p:cNvSpPr>
            <a:spLocks noGrp="1"/>
          </p:cNvSpPr>
          <p:nvPr>
            <p:ph idx="1"/>
          </p:nvPr>
        </p:nvSpPr>
        <p:spPr>
          <a:xfrm>
            <a:off x="2118946" y="1368668"/>
            <a:ext cx="9706708" cy="5137639"/>
          </a:xfrm>
        </p:spPr>
        <p:txBody>
          <a:bodyPr>
            <a:noAutofit/>
          </a:bodyPr>
          <a:lstStyle/>
          <a:p>
            <a:r>
              <a:rPr lang="en-US" sz="1600" dirty="0">
                <a:solidFill>
                  <a:schemeClr val="tx1"/>
                </a:solidFill>
                <a:latin typeface="Times New Roman" panose="02020603050405020304" pitchFamily="18" charset="0"/>
                <a:cs typeface="Times New Roman" panose="02020603050405020304" pitchFamily="18" charset="0"/>
              </a:rPr>
              <a:t>Machine learning is used to classify data into different categories based on given features. K-Nearest Neighbors (KNN) and Support Vector Machine (SVM) are two commonly used classification algorithms. KNN classifies data based on the nearest neighbors, while SVM separates classes by creating a decision boundary. In this experiment, both algorithms are applied to a synthetic overlapping dataset and their performance is compared using accuracy</a:t>
            </a:r>
            <a:r>
              <a:rPr lang="en-US" sz="1600" dirty="0" smtClean="0">
                <a:solidFill>
                  <a:schemeClr val="tx1"/>
                </a:solidFill>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
            </a:pPr>
            <a:r>
              <a:rPr lang="en-IN" b="1" dirty="0">
                <a:solidFill>
                  <a:schemeClr val="tx1"/>
                </a:solidFill>
                <a:latin typeface="Times New Roman" panose="02020603050405020304" pitchFamily="18" charset="0"/>
                <a:cs typeface="Times New Roman" panose="02020603050405020304" pitchFamily="18" charset="0"/>
              </a:rPr>
              <a:t>KNN (K-Nearest </a:t>
            </a:r>
            <a:r>
              <a:rPr lang="en-IN" b="1" dirty="0" err="1">
                <a:solidFill>
                  <a:schemeClr val="tx1"/>
                </a:solidFill>
                <a:latin typeface="Times New Roman" panose="02020603050405020304" pitchFamily="18" charset="0"/>
                <a:cs typeface="Times New Roman" panose="02020603050405020304" pitchFamily="18" charset="0"/>
              </a:rPr>
              <a:t>Neighbors</a:t>
            </a:r>
            <a:r>
              <a:rPr lang="en-IN" b="1" dirty="0" smtClean="0">
                <a:solidFill>
                  <a:schemeClr val="tx1"/>
                </a:solidFill>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Ø"/>
            </a:pPr>
            <a:r>
              <a:rPr lang="en-US" sz="1600" dirty="0">
                <a:solidFill>
                  <a:schemeClr val="tx1"/>
                </a:solidFill>
                <a:latin typeface="Times New Roman" panose="02020603050405020304" pitchFamily="18" charset="0"/>
                <a:cs typeface="Times New Roman" panose="02020603050405020304" pitchFamily="18" charset="0"/>
              </a:rPr>
              <a:t>No training phase is </a:t>
            </a:r>
            <a:r>
              <a:rPr lang="en-US" sz="1600" dirty="0" smtClean="0">
                <a:solidFill>
                  <a:schemeClr val="tx1"/>
                </a:solidFill>
                <a:latin typeface="Times New Roman" panose="02020603050405020304" pitchFamily="18" charset="0"/>
                <a:cs typeface="Times New Roman" panose="02020603050405020304" pitchFamily="18" charset="0"/>
              </a:rPr>
              <a:t>required.</a:t>
            </a:r>
          </a:p>
          <a:p>
            <a:pPr marL="285750" indent="-285750">
              <a:buFont typeface="Wingdings" panose="05000000000000000000"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Classification depends on K nearest data </a:t>
            </a:r>
            <a:r>
              <a:rPr lang="en-IN" sz="1600" dirty="0" smtClean="0">
                <a:solidFill>
                  <a:schemeClr val="tx1"/>
                </a:solidFill>
                <a:latin typeface="Times New Roman" panose="02020603050405020304" pitchFamily="18" charset="0"/>
                <a:cs typeface="Times New Roman" panose="02020603050405020304" pitchFamily="18" charset="0"/>
              </a:rPr>
              <a:t>points.</a:t>
            </a:r>
          </a:p>
          <a:p>
            <a:pPr marL="285750" indent="-285750">
              <a:buFont typeface="Wingdings" panose="05000000000000000000" pitchFamily="2" charset="2"/>
              <a:buChar char="Ø"/>
            </a:pPr>
            <a:r>
              <a:rPr lang="en-US" sz="1600" dirty="0">
                <a:solidFill>
                  <a:schemeClr val="tx1"/>
                </a:solidFill>
                <a:latin typeface="Times New Roman" panose="02020603050405020304" pitchFamily="18" charset="0"/>
                <a:cs typeface="Times New Roman" panose="02020603050405020304" pitchFamily="18" charset="0"/>
              </a:rPr>
              <a:t>Uses distance measures like Euclidean </a:t>
            </a:r>
            <a:r>
              <a:rPr lang="en-US" sz="1600" dirty="0" smtClean="0">
                <a:solidFill>
                  <a:schemeClr val="tx1"/>
                </a:solidFill>
                <a:latin typeface="Times New Roman" panose="02020603050405020304" pitchFamily="18" charset="0"/>
                <a:cs typeface="Times New Roman" panose="02020603050405020304" pitchFamily="18" charset="0"/>
              </a:rPr>
              <a:t>distance.</a:t>
            </a:r>
          </a:p>
          <a:p>
            <a:pPr marL="285750" indent="-285750">
              <a:buFont typeface="Wingdings" panose="05000000000000000000" pitchFamily="2" charset="2"/>
              <a:buChar char="Ø"/>
            </a:pPr>
            <a:r>
              <a:rPr lang="en-US" sz="1600" dirty="0">
                <a:solidFill>
                  <a:schemeClr val="tx1"/>
                </a:solidFill>
                <a:latin typeface="Times New Roman" panose="02020603050405020304" pitchFamily="18" charset="0"/>
                <a:cs typeface="Times New Roman" panose="02020603050405020304" pitchFamily="18" charset="0"/>
              </a:rPr>
              <a:t>Performance depends on correct choice of K </a:t>
            </a:r>
            <a:r>
              <a:rPr lang="en-US" sz="1600" dirty="0" smtClean="0">
                <a:solidFill>
                  <a:schemeClr val="tx1"/>
                </a:solidFill>
                <a:latin typeface="Times New Roman" panose="02020603050405020304" pitchFamily="18" charset="0"/>
                <a:cs typeface="Times New Roman" panose="02020603050405020304" pitchFamily="18" charset="0"/>
              </a:rPr>
              <a:t>value.</a:t>
            </a:r>
          </a:p>
          <a:p>
            <a:pPr marL="285750" indent="-285750">
              <a:buFont typeface="Wingdings" panose="05000000000000000000" pitchFamily="2" charset="2"/>
              <a:buChar char="Ø"/>
            </a:pPr>
            <a:r>
              <a:rPr lang="en-US" sz="1600" dirty="0">
                <a:solidFill>
                  <a:schemeClr val="tx1"/>
                </a:solidFill>
                <a:latin typeface="Times New Roman" panose="02020603050405020304" pitchFamily="18" charset="0"/>
                <a:cs typeface="Times New Roman" panose="02020603050405020304" pitchFamily="18" charset="0"/>
              </a:rPr>
              <a:t>Sensitive to noise and overlapping </a:t>
            </a:r>
            <a:r>
              <a:rPr lang="en-US" sz="1600" dirty="0" smtClean="0">
                <a:solidFill>
                  <a:schemeClr val="tx1"/>
                </a:solidFill>
                <a:latin typeface="Times New Roman" panose="02020603050405020304" pitchFamily="18" charset="0"/>
                <a:cs typeface="Times New Roman" panose="02020603050405020304" pitchFamily="18" charset="0"/>
              </a:rPr>
              <a:t>data.</a:t>
            </a:r>
          </a:p>
          <a:p>
            <a:pPr marL="285750" indent="-285750">
              <a:buFont typeface="Wingdings" panose="05000000000000000000" pitchFamily="2" charset="2"/>
              <a:buChar char="§"/>
            </a:pPr>
            <a:r>
              <a:rPr lang="en-IN" b="1" dirty="0">
                <a:solidFill>
                  <a:schemeClr val="tx1"/>
                </a:solidFill>
                <a:latin typeface="Times New Roman" panose="02020603050405020304" pitchFamily="18" charset="0"/>
                <a:cs typeface="Times New Roman" panose="02020603050405020304" pitchFamily="18" charset="0"/>
              </a:rPr>
              <a:t>SVM (Support Vector Machine</a:t>
            </a:r>
            <a:r>
              <a:rPr lang="en-IN" b="1" dirty="0" smtClean="0">
                <a:solidFill>
                  <a:schemeClr val="tx1"/>
                </a:solidFill>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Ø"/>
            </a:pPr>
            <a:r>
              <a:rPr lang="en-US" sz="1600" dirty="0">
                <a:solidFill>
                  <a:schemeClr val="tx1"/>
                </a:solidFill>
                <a:latin typeface="Times New Roman" panose="02020603050405020304" pitchFamily="18" charset="0"/>
                <a:cs typeface="Times New Roman" panose="02020603050405020304" pitchFamily="18" charset="0"/>
              </a:rPr>
              <a:t>Finds an optimal decision </a:t>
            </a:r>
            <a:r>
              <a:rPr lang="en-US" sz="1600" dirty="0" smtClean="0">
                <a:solidFill>
                  <a:schemeClr val="tx1"/>
                </a:solidFill>
                <a:latin typeface="Times New Roman" panose="02020603050405020304" pitchFamily="18" charset="0"/>
                <a:cs typeface="Times New Roman" panose="02020603050405020304" pitchFamily="18" charset="0"/>
              </a:rPr>
              <a:t>boundary.</a:t>
            </a:r>
          </a:p>
          <a:p>
            <a:pPr marL="285750" indent="-285750">
              <a:buFont typeface="Wingdings" panose="05000000000000000000" pitchFamily="2" charset="2"/>
              <a:buChar char="Ø"/>
            </a:pPr>
            <a:r>
              <a:rPr lang="en-US" sz="1600" dirty="0">
                <a:solidFill>
                  <a:schemeClr val="tx1"/>
                </a:solidFill>
                <a:latin typeface="Times New Roman" panose="02020603050405020304" pitchFamily="18" charset="0"/>
                <a:cs typeface="Times New Roman" panose="02020603050405020304" pitchFamily="18" charset="0"/>
              </a:rPr>
              <a:t>Maximizes the margin between </a:t>
            </a:r>
            <a:r>
              <a:rPr lang="en-US" sz="1600" dirty="0" smtClean="0">
                <a:solidFill>
                  <a:schemeClr val="tx1"/>
                </a:solidFill>
                <a:latin typeface="Times New Roman" panose="02020603050405020304" pitchFamily="18" charset="0"/>
                <a:cs typeface="Times New Roman" panose="02020603050405020304" pitchFamily="18" charset="0"/>
              </a:rPr>
              <a:t>classes.</a:t>
            </a:r>
          </a:p>
          <a:p>
            <a:pPr marL="285750" indent="-285750">
              <a:buFont typeface="Wingdings" panose="05000000000000000000" pitchFamily="2" charset="2"/>
              <a:buChar char="Ø"/>
            </a:pPr>
            <a:r>
              <a:rPr lang="en-US" sz="1600" dirty="0">
                <a:solidFill>
                  <a:schemeClr val="tx1"/>
                </a:solidFill>
                <a:latin typeface="Times New Roman" panose="02020603050405020304" pitchFamily="18" charset="0"/>
                <a:cs typeface="Times New Roman" panose="02020603050405020304" pitchFamily="18" charset="0"/>
              </a:rPr>
              <a:t>Uses only support vectors for decision </a:t>
            </a:r>
            <a:r>
              <a:rPr lang="en-US" sz="1600" dirty="0" smtClean="0">
                <a:solidFill>
                  <a:schemeClr val="tx1"/>
                </a:solidFill>
                <a:latin typeface="Times New Roman" panose="02020603050405020304" pitchFamily="18" charset="0"/>
                <a:cs typeface="Times New Roman" panose="02020603050405020304" pitchFamily="18" charset="0"/>
              </a:rPr>
              <a:t>making.</a:t>
            </a:r>
            <a:endParaRPr lang="en-IN" sz="1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8543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7994" y="597733"/>
            <a:ext cx="8911687" cy="1280890"/>
          </a:xfrm>
        </p:spPr>
        <p:txBody>
          <a:bodyPr>
            <a:normAutofit/>
          </a:bodyPr>
          <a:lstStyle/>
          <a:p>
            <a:r>
              <a:rPr lang="en-IN" sz="4800" dirty="0">
                <a:solidFill>
                  <a:schemeClr val="tx1"/>
                </a:solidFill>
                <a:latin typeface="Times New Roman" panose="02020603050405020304" pitchFamily="18" charset="0"/>
                <a:cs typeface="Times New Roman" panose="02020603050405020304" pitchFamily="18" charset="0"/>
              </a:rPr>
              <a:t>Dataset Description</a:t>
            </a:r>
          </a:p>
        </p:txBody>
      </p:sp>
      <p:sp>
        <p:nvSpPr>
          <p:cNvPr id="4" name="Rectangle 1"/>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dirty="0">
                <a:solidFill>
                  <a:schemeClr val="tx1"/>
                </a:solidFill>
                <a:latin typeface="Times New Roman" panose="02020603050405020304" pitchFamily="18" charset="0"/>
                <a:cs typeface="Times New Roman" panose="02020603050405020304" pitchFamily="18" charset="0"/>
              </a:rPr>
              <a:t>The dataset used in this </a:t>
            </a:r>
            <a:r>
              <a:rPr lang="en-US" sz="1600" dirty="0" smtClean="0">
                <a:solidFill>
                  <a:schemeClr val="tx1"/>
                </a:solidFill>
                <a:latin typeface="Times New Roman" panose="02020603050405020304" pitchFamily="18" charset="0"/>
                <a:cs typeface="Times New Roman" panose="02020603050405020304" pitchFamily="18" charset="0"/>
              </a:rPr>
              <a:t>is </a:t>
            </a:r>
            <a:r>
              <a:rPr lang="en-US" sz="1600" dirty="0">
                <a:solidFill>
                  <a:schemeClr val="tx1"/>
                </a:solidFill>
                <a:latin typeface="Times New Roman" panose="02020603050405020304" pitchFamily="18" charset="0"/>
                <a:cs typeface="Times New Roman" panose="02020603050405020304" pitchFamily="18" charset="0"/>
              </a:rPr>
              <a:t>a synthetic dataset that has been created specifically for understanding the working of classification algorithms. Synthetic data allows better control over data distribution and helps in analyzing algorithm behavior clearly. The dataset consists of two different classes, namely Class 0 and Class 1, which represent two separate categories used for classification.</a:t>
            </a:r>
          </a:p>
          <a:p>
            <a:r>
              <a:rPr lang="en-US" sz="1600" dirty="0">
                <a:solidFill>
                  <a:schemeClr val="tx1"/>
                </a:solidFill>
                <a:latin typeface="Times New Roman" panose="02020603050405020304" pitchFamily="18" charset="0"/>
                <a:cs typeface="Times New Roman" panose="02020603050405020304" pitchFamily="18" charset="0"/>
              </a:rPr>
              <a:t>The data points are generated using random values, which results in a scattered distribution of points across the feature space. Due to this random generation, the data points belonging to both classes are not clearly separable. Instead of forming distinct clusters, many points from Class 0 and Class 1 are mixed with each other, creating an overlapping region between the two classes.</a:t>
            </a:r>
          </a:p>
          <a:p>
            <a:r>
              <a:rPr lang="en-US" sz="1600" dirty="0">
                <a:solidFill>
                  <a:schemeClr val="tx1"/>
                </a:solidFill>
                <a:latin typeface="Times New Roman" panose="02020603050405020304" pitchFamily="18" charset="0"/>
                <a:cs typeface="Times New Roman" panose="02020603050405020304" pitchFamily="18" charset="0"/>
              </a:rPr>
              <a:t>Some data points lie very close to the decision boundary, which increases the difficulty of the classification task. These boundary points can easily be misclassified, especially when the dataset is noisy or overlapping. Because of this, perfect classification accuracy cannot be achieved for this dataset.</a:t>
            </a:r>
          </a:p>
          <a:p>
            <a:r>
              <a:rPr lang="en-US" sz="1600" dirty="0">
                <a:solidFill>
                  <a:schemeClr val="tx1"/>
                </a:solidFill>
                <a:latin typeface="Times New Roman" panose="02020603050405020304" pitchFamily="18" charset="0"/>
                <a:cs typeface="Times New Roman" panose="02020603050405020304" pitchFamily="18" charset="0"/>
              </a:rPr>
              <a:t>Such an overlapping synthetic dataset closely resembles real-world scenarios, where data is often imperfect and classes are not well separated. This makes the dataset suitable for evaluating the true performance and robustness of classification algorithms like KNN and SVM.</a:t>
            </a:r>
          </a:p>
          <a:p>
            <a:pPr marL="0" marR="0" lvl="0" indent="0" algn="l" defTabSz="914400" rtl="0" eaLnBrk="0" fontAlgn="base" latinLnBrk="0" hangingPunct="0">
              <a:lnSpc>
                <a:spcPct val="150000"/>
              </a:lnSpc>
              <a:spcBef>
                <a:spcPct val="0"/>
              </a:spcBef>
              <a:spcAft>
                <a:spcPct val="0"/>
              </a:spcAft>
              <a:buClrTx/>
              <a:buSzTx/>
              <a:tabLst/>
            </a:pPr>
            <a:endParaRPr kumimoji="0" lang="en-US" alt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166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1746" y="624110"/>
            <a:ext cx="10339753" cy="1280890"/>
          </a:xfrm>
        </p:spPr>
        <p:txBody>
          <a:bodyPr>
            <a:noAutofit/>
          </a:bodyPr>
          <a:lstStyle/>
          <a:p>
            <a:r>
              <a:rPr lang="en-IN" sz="4800" dirty="0">
                <a:solidFill>
                  <a:schemeClr val="tx1"/>
                </a:solidFill>
                <a:latin typeface="Times New Roman" panose="02020603050405020304" pitchFamily="18" charset="0"/>
                <a:cs typeface="Times New Roman" panose="02020603050405020304" pitchFamily="18" charset="0"/>
              </a:rPr>
              <a:t>KNN (K-Nearest </a:t>
            </a:r>
            <a:r>
              <a:rPr lang="en-IN" sz="4800" dirty="0" err="1">
                <a:solidFill>
                  <a:schemeClr val="tx1"/>
                </a:solidFill>
                <a:latin typeface="Times New Roman" panose="02020603050405020304" pitchFamily="18" charset="0"/>
                <a:cs typeface="Times New Roman" panose="02020603050405020304" pitchFamily="18" charset="0"/>
              </a:rPr>
              <a:t>Neighbors</a:t>
            </a:r>
            <a:r>
              <a:rPr lang="en-IN" sz="4800" dirty="0">
                <a:solidFill>
                  <a:schemeClr val="tx1"/>
                </a:solidFill>
                <a:latin typeface="Times New Roman" panose="02020603050405020304" pitchFamily="18" charset="0"/>
                <a:cs typeface="Times New Roman" panose="02020603050405020304" pitchFamily="18" charset="0"/>
              </a:rPr>
              <a:t>) – Working</a:t>
            </a:r>
          </a:p>
        </p:txBody>
      </p:sp>
      <p:sp>
        <p:nvSpPr>
          <p:cNvPr id="3" name="Content Placeholder 2"/>
          <p:cNvSpPr>
            <a:spLocks noGrp="1"/>
          </p:cNvSpPr>
          <p:nvPr>
            <p:ph idx="1"/>
          </p:nvPr>
        </p:nvSpPr>
        <p:spPr>
          <a:xfrm>
            <a:off x="1828801" y="1905000"/>
            <a:ext cx="9530860" cy="4548554"/>
          </a:xfrm>
        </p:spPr>
        <p:txBody>
          <a:bodyPr>
            <a:normAutofit/>
          </a:bodyPr>
          <a:lstStyle/>
          <a:p>
            <a:r>
              <a:rPr lang="en-US" sz="1600" dirty="0">
                <a:solidFill>
                  <a:schemeClr val="tx1"/>
                </a:solidFill>
                <a:latin typeface="Times New Roman" panose="02020603050405020304" pitchFamily="18" charset="0"/>
                <a:cs typeface="Times New Roman" panose="02020603050405020304" pitchFamily="18" charset="0"/>
              </a:rPr>
              <a:t>K-Nearest Neighbors is a simple supervised machine learning algorithm used for classification. It works based on the idea that similar data points exist close to each other. KNN does not require a training phase and makes predictions using the training data itself</a:t>
            </a:r>
            <a:r>
              <a:rPr lang="en-US" sz="1600" dirty="0" smtClean="0">
                <a:solidFill>
                  <a:schemeClr val="tx1"/>
                </a:solidFill>
                <a:latin typeface="Times New Roman" panose="02020603050405020304" pitchFamily="18" charset="0"/>
                <a:cs typeface="Times New Roman" panose="02020603050405020304" pitchFamily="18" charset="0"/>
              </a:rPr>
              <a:t>.</a:t>
            </a:r>
          </a:p>
          <a:p>
            <a:r>
              <a:rPr lang="en-US" b="1" u="sng" dirty="0">
                <a:solidFill>
                  <a:schemeClr val="tx1"/>
                </a:solidFill>
                <a:latin typeface="Times New Roman" panose="02020603050405020304" pitchFamily="18" charset="0"/>
                <a:cs typeface="Times New Roman" panose="02020603050405020304" pitchFamily="18" charset="0"/>
              </a:rPr>
              <a:t>Working Steps:</a:t>
            </a:r>
          </a:p>
          <a:p>
            <a:pPr>
              <a:buFont typeface="Wingdings" panose="05000000000000000000" pitchFamily="2" charset="2"/>
              <a:buChar char="§"/>
            </a:pPr>
            <a:r>
              <a:rPr lang="en-US" sz="1600" dirty="0">
                <a:solidFill>
                  <a:schemeClr val="tx1"/>
                </a:solidFill>
                <a:latin typeface="Times New Roman" panose="02020603050405020304" pitchFamily="18" charset="0"/>
                <a:cs typeface="Times New Roman" panose="02020603050405020304" pitchFamily="18" charset="0"/>
              </a:rPr>
              <a:t>Select the value of K (number of neighbors)</a:t>
            </a:r>
          </a:p>
          <a:p>
            <a:pPr>
              <a:buFont typeface="Wingdings" panose="05000000000000000000" pitchFamily="2" charset="2"/>
              <a:buChar char="§"/>
            </a:pPr>
            <a:r>
              <a:rPr lang="en-US" sz="1600" dirty="0">
                <a:solidFill>
                  <a:schemeClr val="tx1"/>
                </a:solidFill>
                <a:latin typeface="Times New Roman" panose="02020603050405020304" pitchFamily="18" charset="0"/>
                <a:cs typeface="Times New Roman" panose="02020603050405020304" pitchFamily="18" charset="0"/>
              </a:rPr>
              <a:t>Calculate the distance between the test point and all training points</a:t>
            </a:r>
          </a:p>
          <a:p>
            <a:pPr>
              <a:buFont typeface="Wingdings" panose="05000000000000000000" pitchFamily="2" charset="2"/>
              <a:buChar char="§"/>
            </a:pPr>
            <a:r>
              <a:rPr lang="en-US" sz="1600" dirty="0">
                <a:solidFill>
                  <a:schemeClr val="tx1"/>
                </a:solidFill>
                <a:latin typeface="Times New Roman" panose="02020603050405020304" pitchFamily="18" charset="0"/>
                <a:cs typeface="Times New Roman" panose="02020603050405020304" pitchFamily="18" charset="0"/>
              </a:rPr>
              <a:t>Sort the distances in ascending order</a:t>
            </a:r>
          </a:p>
          <a:p>
            <a:pPr>
              <a:buFont typeface="Wingdings" panose="05000000000000000000" pitchFamily="2" charset="2"/>
              <a:buChar char="§"/>
            </a:pPr>
            <a:r>
              <a:rPr lang="en-US" sz="1600" dirty="0">
                <a:solidFill>
                  <a:schemeClr val="tx1"/>
                </a:solidFill>
                <a:latin typeface="Times New Roman" panose="02020603050405020304" pitchFamily="18" charset="0"/>
                <a:cs typeface="Times New Roman" panose="02020603050405020304" pitchFamily="18" charset="0"/>
              </a:rPr>
              <a:t>Choose the K nearest neighbors</a:t>
            </a:r>
          </a:p>
          <a:p>
            <a:pPr>
              <a:buFont typeface="Wingdings" panose="05000000000000000000" pitchFamily="2" charset="2"/>
              <a:buChar char="§"/>
            </a:pPr>
            <a:r>
              <a:rPr lang="en-US" sz="1600" dirty="0">
                <a:solidFill>
                  <a:schemeClr val="tx1"/>
                </a:solidFill>
                <a:latin typeface="Times New Roman" panose="02020603050405020304" pitchFamily="18" charset="0"/>
                <a:cs typeface="Times New Roman" panose="02020603050405020304" pitchFamily="18" charset="0"/>
              </a:rPr>
              <a:t>Perform majority voting</a:t>
            </a:r>
          </a:p>
          <a:p>
            <a:pPr>
              <a:buFont typeface="Wingdings" panose="05000000000000000000" pitchFamily="2" charset="2"/>
              <a:buChar char="§"/>
            </a:pPr>
            <a:r>
              <a:rPr lang="en-US" sz="1600" dirty="0">
                <a:solidFill>
                  <a:schemeClr val="tx1"/>
                </a:solidFill>
                <a:latin typeface="Times New Roman" panose="02020603050405020304" pitchFamily="18" charset="0"/>
                <a:cs typeface="Times New Roman" panose="02020603050405020304" pitchFamily="18" charset="0"/>
              </a:rPr>
              <a:t>Assign the class with maximum votes to the test point</a:t>
            </a:r>
          </a:p>
          <a:p>
            <a:pPr>
              <a:buFont typeface="Wingdings" panose="05000000000000000000" pitchFamily="2" charset="2"/>
              <a:buChar char="§"/>
            </a:pPr>
            <a:r>
              <a:rPr lang="en-US" sz="1600" dirty="0">
                <a:solidFill>
                  <a:schemeClr val="tx1"/>
                </a:solidFill>
                <a:latin typeface="Times New Roman" panose="02020603050405020304" pitchFamily="18" charset="0"/>
                <a:cs typeface="Times New Roman" panose="02020603050405020304" pitchFamily="18" charset="0"/>
              </a:rPr>
              <a:t>Because the dataset is overlapping, some nearest neighbors may belong to different classes, which can lead to misclassification.</a:t>
            </a:r>
          </a:p>
          <a:p>
            <a:endParaRPr lang="en-IN" sz="1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4722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8993" y="624110"/>
            <a:ext cx="10348546" cy="1160728"/>
          </a:xfrm>
        </p:spPr>
        <p:txBody>
          <a:bodyPr>
            <a:noAutofit/>
          </a:bodyPr>
          <a:lstStyle/>
          <a:p>
            <a:r>
              <a:rPr lang="en-IN" sz="4800" dirty="0" smtClean="0">
                <a:solidFill>
                  <a:schemeClr val="tx1"/>
                </a:solidFill>
                <a:latin typeface="Times New Roman" panose="02020603050405020304" pitchFamily="18" charset="0"/>
                <a:cs typeface="Times New Roman" panose="02020603050405020304" pitchFamily="18" charset="0"/>
              </a:rPr>
              <a:t>SVM(Support Vector Machine)Working</a:t>
            </a:r>
            <a:endParaRPr lang="en-IN" sz="48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017712" y="1960684"/>
            <a:ext cx="8915400" cy="4264270"/>
          </a:xfrm>
        </p:spPr>
        <p:txBody>
          <a:bodyPr>
            <a:noAutofit/>
          </a:bodyPr>
          <a:lstStyle/>
          <a:p>
            <a:r>
              <a:rPr lang="en-US" sz="1600" dirty="0" smtClean="0">
                <a:solidFill>
                  <a:schemeClr val="tx1"/>
                </a:solidFill>
                <a:latin typeface="Times New Roman" panose="02020603050405020304" pitchFamily="18" charset="0"/>
                <a:cs typeface="Times New Roman" panose="02020603050405020304" pitchFamily="18" charset="0"/>
              </a:rPr>
              <a:t>Support Vector Machine (SVM) is a supervised learning algorithm used for classification. It works by finding a decision boundary that separates different classes. The main objective of SVM is to create a boundary that maximizes the distance between the nearest data points of both classes.</a:t>
            </a:r>
          </a:p>
          <a:p>
            <a:r>
              <a:rPr lang="en-US" b="1" u="sng" dirty="0" smtClean="0">
                <a:solidFill>
                  <a:schemeClr val="tx1"/>
                </a:solidFill>
                <a:latin typeface="Times New Roman" panose="02020603050405020304" pitchFamily="18" charset="0"/>
                <a:cs typeface="Times New Roman" panose="02020603050405020304" pitchFamily="18" charset="0"/>
              </a:rPr>
              <a:t>Working Steps:</a:t>
            </a:r>
            <a:endParaRPr lang="en-US" u="sng" dirty="0" smtClean="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1600" dirty="0" smtClean="0">
                <a:solidFill>
                  <a:schemeClr val="tx1"/>
                </a:solidFill>
                <a:latin typeface="Times New Roman" panose="02020603050405020304" pitchFamily="18" charset="0"/>
                <a:cs typeface="Times New Roman" panose="02020603050405020304" pitchFamily="18" charset="0"/>
              </a:rPr>
              <a:t>Convert class labels into numerical values</a:t>
            </a:r>
          </a:p>
          <a:p>
            <a:pPr>
              <a:buFont typeface="Wingdings" panose="05000000000000000000" pitchFamily="2" charset="2"/>
              <a:buChar char="§"/>
            </a:pPr>
            <a:r>
              <a:rPr lang="en-US" sz="1600" dirty="0" smtClean="0">
                <a:solidFill>
                  <a:schemeClr val="tx1"/>
                </a:solidFill>
                <a:latin typeface="Times New Roman" panose="02020603050405020304" pitchFamily="18" charset="0"/>
                <a:cs typeface="Times New Roman" panose="02020603050405020304" pitchFamily="18" charset="0"/>
              </a:rPr>
              <a:t>Find a separating line (decision boundary) between classes</a:t>
            </a:r>
          </a:p>
          <a:p>
            <a:pPr>
              <a:buFont typeface="Wingdings" panose="05000000000000000000" pitchFamily="2" charset="2"/>
              <a:buChar char="§"/>
            </a:pPr>
            <a:r>
              <a:rPr lang="en-US" sz="1600" dirty="0" smtClean="0">
                <a:solidFill>
                  <a:schemeClr val="tx1"/>
                </a:solidFill>
                <a:latin typeface="Times New Roman" panose="02020603050405020304" pitchFamily="18" charset="0"/>
                <a:cs typeface="Times New Roman" panose="02020603050405020304" pitchFamily="18" charset="0"/>
              </a:rPr>
              <a:t>Identify the closest data points called support vectors</a:t>
            </a:r>
          </a:p>
          <a:p>
            <a:pPr>
              <a:buFont typeface="Wingdings" panose="05000000000000000000" pitchFamily="2" charset="2"/>
              <a:buChar char="§"/>
            </a:pPr>
            <a:r>
              <a:rPr lang="en-US" sz="1600" dirty="0" smtClean="0">
                <a:solidFill>
                  <a:schemeClr val="tx1"/>
                </a:solidFill>
                <a:latin typeface="Times New Roman" panose="02020603050405020304" pitchFamily="18" charset="0"/>
                <a:cs typeface="Times New Roman" panose="02020603050405020304" pitchFamily="18" charset="0"/>
              </a:rPr>
              <a:t>Maximize the margin between the classes</a:t>
            </a:r>
          </a:p>
          <a:p>
            <a:pPr>
              <a:buFont typeface="Wingdings" panose="05000000000000000000" pitchFamily="2" charset="2"/>
              <a:buChar char="§"/>
            </a:pPr>
            <a:r>
              <a:rPr lang="en-US" sz="1600" dirty="0" smtClean="0">
                <a:solidFill>
                  <a:schemeClr val="tx1"/>
                </a:solidFill>
                <a:latin typeface="Times New Roman" panose="02020603050405020304" pitchFamily="18" charset="0"/>
                <a:cs typeface="Times New Roman" panose="02020603050405020304" pitchFamily="18" charset="0"/>
              </a:rPr>
              <a:t>Classify new data based on which side of the boundary it lies</a:t>
            </a:r>
          </a:p>
          <a:p>
            <a:pPr>
              <a:buFont typeface="Wingdings" panose="05000000000000000000" pitchFamily="2" charset="2"/>
              <a:buChar char="§"/>
            </a:pPr>
            <a:r>
              <a:rPr lang="en-US" sz="1600" dirty="0" smtClean="0">
                <a:solidFill>
                  <a:schemeClr val="tx1"/>
                </a:solidFill>
                <a:latin typeface="Times New Roman" panose="02020603050405020304" pitchFamily="18" charset="0"/>
                <a:cs typeface="Times New Roman" panose="02020603050405020304" pitchFamily="18" charset="0"/>
              </a:rPr>
              <a:t>SVM performs well on overlapping data because it focuses on the most important boundary points rather than all data points.</a:t>
            </a:r>
            <a:endParaRPr lang="en-US" sz="1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6528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3411" y="720825"/>
            <a:ext cx="8911687" cy="1280890"/>
          </a:xfrm>
        </p:spPr>
        <p:txBody>
          <a:bodyPr>
            <a:normAutofit/>
          </a:bodyPr>
          <a:lstStyle/>
          <a:p>
            <a:r>
              <a:rPr lang="en-IN" sz="4800" dirty="0">
                <a:solidFill>
                  <a:schemeClr val="tx1"/>
                </a:solidFill>
                <a:latin typeface="Times New Roman" panose="02020603050405020304" pitchFamily="18" charset="0"/>
                <a:cs typeface="Times New Roman" panose="02020603050405020304" pitchFamily="18" charset="0"/>
              </a:rPr>
              <a:t>Results and Accuracy</a:t>
            </a:r>
          </a:p>
        </p:txBody>
      </p:sp>
      <p:sp>
        <p:nvSpPr>
          <p:cNvPr id="3" name="Content Placeholder 2"/>
          <p:cNvSpPr>
            <a:spLocks noGrp="1"/>
          </p:cNvSpPr>
          <p:nvPr>
            <p:ph idx="1"/>
          </p:nvPr>
        </p:nvSpPr>
        <p:spPr>
          <a:xfrm>
            <a:off x="1903411" y="1749529"/>
            <a:ext cx="9623304" cy="4871079"/>
          </a:xfrm>
        </p:spPr>
        <p:txBody>
          <a:bodyPr/>
          <a:lstStyle/>
          <a:p>
            <a:r>
              <a:rPr lang="en-US" sz="1600" dirty="0">
                <a:latin typeface="Times New Roman" panose="02020603050405020304" pitchFamily="18" charset="0"/>
                <a:cs typeface="Times New Roman" panose="02020603050405020304" pitchFamily="18" charset="0"/>
              </a:rPr>
              <a:t>Both KNN and SVM algorithms were applied to the synthetic overlapping dataset and their performance was evaluated using accuracy. Since the dataset contains overlapping classes, achieving perfect accuracy is not possible. The obtained accuracy values represent realistic model performance on such data.</a:t>
            </a:r>
          </a:p>
          <a:p>
            <a:r>
              <a:rPr lang="en-US" b="1" u="sng" dirty="0">
                <a:latin typeface="Times New Roman" panose="02020603050405020304" pitchFamily="18" charset="0"/>
                <a:cs typeface="Times New Roman" panose="02020603050405020304" pitchFamily="18" charset="0"/>
              </a:rPr>
              <a:t>Results Obtained:</a:t>
            </a:r>
          </a:p>
          <a:p>
            <a:pPr marL="400050" lvl="1" indent="0">
              <a:buNone/>
            </a:pPr>
            <a:r>
              <a:rPr lang="en-US" b="1" dirty="0">
                <a:latin typeface="Times New Roman" panose="02020603050405020304" pitchFamily="18" charset="0"/>
                <a:cs typeface="Times New Roman" panose="02020603050405020304" pitchFamily="18" charset="0"/>
              </a:rPr>
              <a:t>KNN Accuracy:</a:t>
            </a:r>
            <a:r>
              <a:rPr lang="en-US" dirty="0">
                <a:latin typeface="Times New Roman" panose="02020603050405020304" pitchFamily="18" charset="0"/>
                <a:cs typeface="Times New Roman" panose="02020603050405020304" pitchFamily="18" charset="0"/>
              </a:rPr>
              <a:t> 0.75</a:t>
            </a:r>
          </a:p>
          <a:p>
            <a:pPr marL="400050" lvl="1" indent="0">
              <a:buNone/>
            </a:pPr>
            <a:r>
              <a:rPr lang="en-US" b="1" dirty="0">
                <a:latin typeface="Times New Roman" panose="02020603050405020304" pitchFamily="18" charset="0"/>
                <a:cs typeface="Times New Roman" panose="02020603050405020304" pitchFamily="18" charset="0"/>
              </a:rPr>
              <a:t>SVM Accuracy:</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0.80</a:t>
            </a:r>
            <a:endParaRPr lang="en-US" dirty="0">
              <a:latin typeface="Times New Roman" panose="02020603050405020304" pitchFamily="18" charset="0"/>
              <a:cs typeface="Times New Roman" panose="02020603050405020304" pitchFamily="18" charset="0"/>
            </a:endParaRPr>
          </a:p>
          <a:p>
            <a:pPr marL="400050" lvl="1" indent="0">
              <a:buNone/>
            </a:pPr>
            <a:endParaRPr lang="en-US" dirty="0" smtClean="0">
              <a:latin typeface="Times New Roman" panose="02020603050405020304" pitchFamily="18" charset="0"/>
              <a:cs typeface="Times New Roman" panose="02020603050405020304" pitchFamily="18" charset="0"/>
            </a:endParaRPr>
          </a:p>
          <a:p>
            <a:pPr marL="400050" lvl="1" indent="0">
              <a:buNone/>
            </a:pPr>
            <a:endParaRPr lang="en-US" dirty="0">
              <a:latin typeface="Times New Roman" panose="02020603050405020304" pitchFamily="18" charset="0"/>
              <a:cs typeface="Times New Roman" panose="02020603050405020304" pitchFamily="18" charset="0"/>
            </a:endParaRPr>
          </a:p>
          <a:p>
            <a:pPr marL="400050" lvl="1" indent="0">
              <a:buNone/>
            </a:pPr>
            <a:endParaRPr lang="en-US" dirty="0" smtClean="0">
              <a:latin typeface="Times New Roman" panose="02020603050405020304" pitchFamily="18" charset="0"/>
              <a:cs typeface="Times New Roman" panose="02020603050405020304" pitchFamily="18" charset="0"/>
            </a:endParaRPr>
          </a:p>
          <a:p>
            <a:pPr marL="400050" lvl="1" indent="0">
              <a:buNone/>
            </a:pPr>
            <a:endParaRPr lang="en-US" dirty="0">
              <a:latin typeface="Times New Roman" panose="02020603050405020304" pitchFamily="18" charset="0"/>
              <a:cs typeface="Times New Roman" panose="02020603050405020304" pitchFamily="18" charset="0"/>
            </a:endParaRPr>
          </a:p>
          <a:p>
            <a:pPr marL="400050" lvl="1" indent="0">
              <a:buNone/>
            </a:pPr>
            <a:endParaRPr lang="en-US" dirty="0" smtClean="0">
              <a:latin typeface="Times New Roman" panose="02020603050405020304" pitchFamily="18" charset="0"/>
              <a:cs typeface="Times New Roman" panose="02020603050405020304" pitchFamily="18" charset="0"/>
            </a:endParaRPr>
          </a:p>
          <a:p>
            <a:pPr marL="400050" lvl="1" indent="0">
              <a:buNone/>
            </a:pPr>
            <a:r>
              <a:rPr lang="en-US" dirty="0" smtClean="0">
                <a:latin typeface="Times New Roman" panose="02020603050405020304" pitchFamily="18" charset="0"/>
                <a:cs typeface="Times New Roman" panose="02020603050405020304" pitchFamily="18" charset="0"/>
              </a:rPr>
              <a:t>SVM </a:t>
            </a:r>
            <a:r>
              <a:rPr lang="en-US" dirty="0">
                <a:latin typeface="Times New Roman" panose="02020603050405020304" pitchFamily="18" charset="0"/>
                <a:cs typeface="Times New Roman" panose="02020603050405020304" pitchFamily="18" charset="0"/>
              </a:rPr>
              <a:t>shows higher accuracy compared to KNN because it learns a global decision boundary and maximizes the margin between classes, while KNN depends on local neighbors which can be affected by overlapping points.</a:t>
            </a:r>
          </a:p>
          <a:p>
            <a:pPr marL="400050" lvl="1" indent="0">
              <a:buNone/>
            </a:pPr>
            <a:endParaRPr lang="en-US" dirty="0" smtClean="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4818185" y="2593986"/>
            <a:ext cx="4692211" cy="2991922"/>
          </a:xfrm>
          <a:prstGeom prst="rect">
            <a:avLst/>
          </a:prstGeom>
        </p:spPr>
      </p:pic>
    </p:spTree>
    <p:extLst>
      <p:ext uri="{BB962C8B-B14F-4D97-AF65-F5344CB8AC3E}">
        <p14:creationId xmlns:p14="http://schemas.microsoft.com/office/powerpoint/2010/main" val="2057815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6833" y="1433002"/>
            <a:ext cx="8911687" cy="1280890"/>
          </a:xfrm>
        </p:spPr>
        <p:txBody>
          <a:bodyPr>
            <a:normAutofit/>
          </a:bodyPr>
          <a:lstStyle/>
          <a:p>
            <a:r>
              <a:rPr lang="en-IN" sz="4800" dirty="0" smtClean="0">
                <a:solidFill>
                  <a:schemeClr val="tx1"/>
                </a:solidFill>
                <a:latin typeface="Times New Roman" panose="02020603050405020304" pitchFamily="18" charset="0"/>
                <a:cs typeface="Times New Roman" panose="02020603050405020304" pitchFamily="18" charset="0"/>
              </a:rPr>
              <a:t> </a:t>
            </a:r>
            <a:r>
              <a:rPr lang="en-IN" sz="4800" dirty="0">
                <a:solidFill>
                  <a:schemeClr val="tx1"/>
                </a:solidFill>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1933502" y="2713892"/>
            <a:ext cx="9311053" cy="1902069"/>
          </a:xfrm>
        </p:spPr>
        <p:txBody>
          <a:bodyPr>
            <a:normAutofit/>
          </a:bodyPr>
          <a:lstStyle/>
          <a:p>
            <a:pPr marL="0" indent="0">
              <a:buNone/>
            </a:pPr>
            <a:r>
              <a:rPr lang="en-US" sz="1600" dirty="0">
                <a:solidFill>
                  <a:schemeClr val="tx1"/>
                </a:solidFill>
                <a:latin typeface="Times New Roman" panose="02020603050405020304" pitchFamily="18" charset="0"/>
                <a:cs typeface="Times New Roman" panose="02020603050405020304" pitchFamily="18" charset="0"/>
              </a:rPr>
              <a:t>From </a:t>
            </a:r>
            <a:r>
              <a:rPr lang="en-US" sz="1600" dirty="0" smtClean="0">
                <a:solidFill>
                  <a:schemeClr val="tx1"/>
                </a:solidFill>
                <a:latin typeface="Times New Roman" panose="02020603050405020304" pitchFamily="18" charset="0"/>
                <a:cs typeface="Times New Roman" panose="02020603050405020304" pitchFamily="18" charset="0"/>
              </a:rPr>
              <a:t>this results, </a:t>
            </a:r>
            <a:r>
              <a:rPr lang="en-US" sz="1600" dirty="0">
                <a:solidFill>
                  <a:schemeClr val="tx1"/>
                </a:solidFill>
                <a:latin typeface="Times New Roman" panose="02020603050405020304" pitchFamily="18" charset="0"/>
                <a:cs typeface="Times New Roman" panose="02020603050405020304" pitchFamily="18" charset="0"/>
              </a:rPr>
              <a:t>it is clear that both KNN and SVM have their own strengths and limitations. KNN is easy to understand and implement, making it suitable for small and simple datasets, but its performance decreases when data is noisy or overlapping. </a:t>
            </a:r>
            <a:r>
              <a:rPr lang="en-US" sz="1600" dirty="0" smtClean="0">
                <a:solidFill>
                  <a:schemeClr val="tx1"/>
                </a:solidFill>
                <a:latin typeface="Times New Roman" panose="02020603050405020304" pitchFamily="18" charset="0"/>
                <a:cs typeface="Times New Roman" panose="02020603050405020304" pitchFamily="18" charset="0"/>
              </a:rPr>
              <a:t>SVM</a:t>
            </a:r>
            <a:r>
              <a:rPr lang="en-US" sz="1600" dirty="0">
                <a:solidFill>
                  <a:schemeClr val="tx1"/>
                </a:solidFill>
                <a:latin typeface="Times New Roman" panose="02020603050405020304" pitchFamily="18" charset="0"/>
                <a:cs typeface="Times New Roman" panose="02020603050405020304" pitchFamily="18" charset="0"/>
              </a:rPr>
              <a:t>, on the other hand, handles overlapping and complex data more effectively by focusing on the most critical boundary points and maximizing the margin between classes. The higher accuracy obtained by SVM in this experiment shows that it is more reliable and efficient for realistic datasets where perfect separation is not possible. Therefore, SVM is a better choice than KNN for classification tasks involving overlapping data.</a:t>
            </a:r>
            <a:endParaRPr lang="en-IN" sz="1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082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47747" y="2628901"/>
            <a:ext cx="5794131" cy="769441"/>
          </a:xfrm>
          <a:prstGeom prst="rect">
            <a:avLst/>
          </a:prstGeom>
          <a:noFill/>
        </p:spPr>
        <p:txBody>
          <a:bodyPr wrap="square" rtlCol="0">
            <a:spAutoFit/>
          </a:bodyPr>
          <a:lstStyle/>
          <a:p>
            <a:r>
              <a:rPr lang="en-IN" sz="4400" dirty="0" smtClean="0"/>
              <a:t>Thank You!!!!</a:t>
            </a:r>
            <a:endParaRPr lang="en-IN" sz="4400" dirty="0"/>
          </a:p>
        </p:txBody>
      </p:sp>
    </p:spTree>
    <p:extLst>
      <p:ext uri="{BB962C8B-B14F-4D97-AF65-F5344CB8AC3E}">
        <p14:creationId xmlns:p14="http://schemas.microsoft.com/office/powerpoint/2010/main" val="101999426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63</TotalTime>
  <Words>851</Words>
  <Application>Microsoft Office PowerPoint</Application>
  <PresentationFormat>Widescreen</PresentationFormat>
  <Paragraphs>54</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Century Gothic</vt:lpstr>
      <vt:lpstr>Times New Roman</vt:lpstr>
      <vt:lpstr>Wingdings</vt:lpstr>
      <vt:lpstr>Wingdings 3</vt:lpstr>
      <vt:lpstr>Wisp</vt:lpstr>
      <vt:lpstr>Comparison of KNN and SVM on Synthetic Dataset</vt:lpstr>
      <vt:lpstr>Introduction</vt:lpstr>
      <vt:lpstr>Dataset Description</vt:lpstr>
      <vt:lpstr>KNN (K-Nearest Neighbors) – Working</vt:lpstr>
      <vt:lpstr>SVM(Support Vector Machine)Working</vt:lpstr>
      <vt:lpstr>Results and Accuracy</vt:lpstr>
      <vt:lpstr> 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Comparison of KNN and SVM on Synthetic Dataset</dc:title>
  <dc:creator>SIDDHI GANDHI</dc:creator>
  <cp:lastModifiedBy>SIDDHI GANDHI</cp:lastModifiedBy>
  <cp:revision>7</cp:revision>
  <dcterms:created xsi:type="dcterms:W3CDTF">2026-01-03T16:51:52Z</dcterms:created>
  <dcterms:modified xsi:type="dcterms:W3CDTF">2026-01-03T18:00:45Z</dcterms:modified>
</cp:coreProperties>
</file>